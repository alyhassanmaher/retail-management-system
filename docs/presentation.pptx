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60"/>
    <p:restoredTop sz="94676"/>
  </p:normalViewPr>
  <p:slideViewPr>
    <p:cSldViewPr snapToGrid="0">
      <p:cViewPr>
        <p:scale>
          <a:sx n="97" d="100"/>
          <a:sy n="97" d="100"/>
        </p:scale>
        <p:origin x="192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1395F-BB3B-1A7B-E4A8-800713948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3339" y="-474133"/>
            <a:ext cx="11398664" cy="2421464"/>
          </a:xfrm>
        </p:spPr>
        <p:txBody>
          <a:bodyPr/>
          <a:lstStyle/>
          <a:p>
            <a:r>
              <a:rPr lang="en-GB" dirty="0"/>
              <a:t>Retail Business Inventory and Sales Management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092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880707-AD4A-C75A-3ED2-A89251AB06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401" y="194508"/>
            <a:ext cx="4141372" cy="328899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0A86CB-9FCB-DDF9-138F-754C6B199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5931" y="194508"/>
            <a:ext cx="4195406" cy="32889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A1F2B1-91C4-8C04-B795-0C0A6DFCB045}"/>
              </a:ext>
            </a:extLst>
          </p:cNvPr>
          <p:cNvSpPr txBox="1"/>
          <p:nvPr/>
        </p:nvSpPr>
        <p:spPr>
          <a:xfrm>
            <a:off x="0" y="4038287"/>
            <a:ext cx="783131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Code responsible:</a:t>
            </a:r>
            <a:endParaRPr lang="en-GB" dirty="0"/>
          </a:p>
          <a:p>
            <a:pPr lvl="1"/>
            <a:r>
              <a:rPr lang="en-GB" dirty="0"/>
              <a:t>class </a:t>
            </a:r>
            <a:r>
              <a:rPr lang="en-GB" dirty="0" err="1"/>
              <a:t>RetailSystem</a:t>
            </a:r>
            <a:r>
              <a:rPr lang="en-GB" dirty="0"/>
              <a:t> -&gt; </a:t>
            </a:r>
            <a:r>
              <a:rPr lang="en-GB" dirty="0" err="1"/>
              <a:t>seed_sample_data</a:t>
            </a:r>
            <a:r>
              <a:rPr lang="en-GB" dirty="0"/>
              <a:t>() (adds the 8 products)</a:t>
            </a:r>
          </a:p>
          <a:p>
            <a:pPr lvl="1"/>
            <a:r>
              <a:rPr lang="en-GB" dirty="0"/>
              <a:t>class </a:t>
            </a:r>
            <a:r>
              <a:rPr lang="en-GB" dirty="0" err="1"/>
              <a:t>InventoryManager</a:t>
            </a:r>
            <a:r>
              <a:rPr lang="en-GB" dirty="0"/>
              <a:t> -&gt; </a:t>
            </a:r>
            <a:r>
              <a:rPr lang="en-GB" dirty="0" err="1"/>
              <a:t>add_product</a:t>
            </a:r>
            <a:r>
              <a:rPr lang="en-GB" dirty="0"/>
              <a:t>() (stores each product into </a:t>
            </a:r>
            <a:r>
              <a:rPr lang="en-GB" dirty="0" err="1"/>
              <a:t>self.map</a:t>
            </a:r>
            <a:r>
              <a:rPr lang="en-GB" dirty="0"/>
              <a:t>)</a:t>
            </a:r>
          </a:p>
          <a:p>
            <a:pPr latinLnBrk="1"/>
            <a:r>
              <a:rPr lang="en-GB" dirty="0"/>
              <a:t>So “8 products loaded” happens because </a:t>
            </a:r>
          </a:p>
          <a:p>
            <a:r>
              <a:rPr lang="en-GB" dirty="0" err="1"/>
              <a:t>seed_sample_data</a:t>
            </a:r>
            <a:r>
              <a:rPr lang="en-GB" dirty="0"/>
              <a:t>() added 8 products into </a:t>
            </a:r>
            <a:r>
              <a:rPr lang="en-GB" dirty="0" err="1"/>
              <a:t>inventory.map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6146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356D7-6426-189D-C176-FAE9C50E9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429000"/>
            <a:ext cx="10131425" cy="3649133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/>
              <a:t> Total Sales</a:t>
            </a:r>
          </a:p>
          <a:p>
            <a:r>
              <a:rPr lang="en-GB" b="1" dirty="0"/>
              <a:t>Source:</a:t>
            </a:r>
            <a:r>
              <a:rPr lang="en-GB" dirty="0"/>
              <a:t> </a:t>
            </a:r>
            <a:r>
              <a:rPr lang="en-GB" dirty="0" err="1"/>
              <a:t>Product.total_sold</a:t>
            </a:r>
            <a:endParaRPr lang="en-GB" dirty="0"/>
          </a:p>
          <a:p>
            <a:pPr latinLnBrk="1"/>
            <a:r>
              <a:rPr lang="en-GB" b="1" dirty="0"/>
              <a:t>Where it changes:</a:t>
            </a:r>
            <a:r>
              <a:rPr lang="en-GB" dirty="0"/>
              <a:t> </a:t>
            </a:r>
          </a:p>
          <a:p>
            <a:r>
              <a:rPr lang="en-GB" dirty="0" err="1"/>
              <a:t>InventoryManager.deduct_stock</a:t>
            </a:r>
            <a:r>
              <a:rPr lang="en-GB" dirty="0"/>
              <a:t>()</a:t>
            </a:r>
          </a:p>
          <a:p>
            <a:r>
              <a:rPr lang="en-GB" b="1" dirty="0"/>
              <a:t>Code responsible:</a:t>
            </a:r>
            <a:endParaRPr lang="en-GB" dirty="0"/>
          </a:p>
          <a:p>
            <a:pPr lvl="1"/>
            <a:r>
              <a:rPr lang="en-GB" dirty="0"/>
              <a:t>class </a:t>
            </a:r>
            <a:r>
              <a:rPr lang="en-GB" dirty="0" err="1"/>
              <a:t>InventoryManager</a:t>
            </a:r>
            <a:r>
              <a:rPr lang="en-GB" dirty="0"/>
              <a:t> -&gt; </a:t>
            </a:r>
            <a:r>
              <a:rPr lang="en-GB" dirty="0" err="1"/>
              <a:t>deduct_stock</a:t>
            </a:r>
            <a:r>
              <a:rPr lang="en-GB" dirty="0"/>
              <a:t>()</a:t>
            </a:r>
            <a:br>
              <a:rPr lang="en-GB" dirty="0"/>
            </a:br>
            <a:r>
              <a:rPr lang="en-GB" dirty="0"/>
              <a:t>It does:</a:t>
            </a:r>
          </a:p>
          <a:p>
            <a:pPr lvl="2"/>
            <a:r>
              <a:rPr lang="en-GB" dirty="0" err="1"/>
              <a:t>product.stock</a:t>
            </a:r>
            <a:r>
              <a:rPr lang="en-GB" dirty="0"/>
              <a:t> -= quantity</a:t>
            </a:r>
          </a:p>
          <a:p>
            <a:pPr lvl="2"/>
            <a:r>
              <a:rPr lang="en-GB" dirty="0" err="1"/>
              <a:t>product.total_sold</a:t>
            </a:r>
            <a:r>
              <a:rPr lang="en-GB" dirty="0"/>
              <a:t> += quantity</a:t>
            </a:r>
          </a:p>
          <a:p>
            <a:r>
              <a:rPr lang="en-GB" dirty="0"/>
              <a:t>So the total sales number is basically the sum of </a:t>
            </a:r>
            <a:r>
              <a:rPr lang="en-GB" dirty="0" err="1"/>
              <a:t>total_sold</a:t>
            </a:r>
            <a:r>
              <a:rPr lang="en-GB" dirty="0"/>
              <a:t> across all products (because every sale increments </a:t>
            </a:r>
            <a:r>
              <a:rPr lang="en-GB" dirty="0" err="1"/>
              <a:t>total_sold</a:t>
            </a:r>
            <a:r>
              <a:rPr lang="en-GB" dirty="0"/>
              <a:t>).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E0BB06-9783-8EAD-0B8F-6FEA37D12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283" y="0"/>
            <a:ext cx="5554717" cy="391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858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206A190-0624-D6D4-82EE-FB5B789D7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85183" cy="4131539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031FC7F-3037-E897-1744-1EA8114AA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38832"/>
              </p:ext>
            </p:extLst>
          </p:nvPr>
        </p:nvGraphicFramePr>
        <p:xfrm>
          <a:off x="632791" y="4297680"/>
          <a:ext cx="10131426" cy="2560320"/>
        </p:xfrm>
        <a:graphic>
          <a:graphicData uri="http://schemas.openxmlformats.org/drawingml/2006/table">
            <a:tbl>
              <a:tblPr/>
              <a:tblGrid>
                <a:gridCol w="3377142">
                  <a:extLst>
                    <a:ext uri="{9D8B030D-6E8A-4147-A177-3AD203B41FA5}">
                      <a16:colId xmlns:a16="http://schemas.microsoft.com/office/drawing/2014/main" val="3158873163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871149765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63161943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effectLst/>
                        </a:rPr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effectLst/>
                        </a:rPr>
                        <a:t>Data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effectLst/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82375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effectLst/>
                        </a:rPr>
                        <a:t>Inventory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effectLst/>
                        </a:rPr>
                        <a:t>AVL Tree + Hash 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effectLst/>
                        </a:rPr>
                        <a:t>Organize and lookup products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90006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effectLst/>
                        </a:rPr>
                        <a:t>Stock History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>
                          <a:effectLst/>
                        </a:rPr>
                        <a:t>Linked 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effectLst/>
                        </a:rPr>
                        <a:t>Track stock 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03272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effectLst/>
                        </a:rPr>
                        <a:t>Checkout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effectLst/>
                        </a:rPr>
                        <a:t>Queue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effectLst/>
                        </a:rPr>
                        <a:t>Simulate customer 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09363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effectLst/>
                        </a:rPr>
                        <a:t>Transactions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effectLst/>
                        </a:rPr>
                        <a:t>Stack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effectLst/>
                        </a:rPr>
                        <a:t>Log sales for refunds/audits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79635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effectLst/>
                        </a:rPr>
                        <a:t>CRM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effectLst/>
                        </a:rPr>
                        <a:t>Hash Map + Stack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effectLst/>
                        </a:rPr>
                        <a:t>Customer profiles and history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5225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effectLst/>
                        </a:rPr>
                        <a:t>Recommendations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effectLst/>
                        </a:rPr>
                        <a:t>Sorting + Searching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>
                          <a:effectLst/>
                        </a:rPr>
                        <a:t>Suggest products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630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7674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497E5-8A2C-FFF6-6910-F8C831BBB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125571"/>
            <a:ext cx="8401878" cy="2942846"/>
          </a:xfrm>
        </p:spPr>
        <p:txBody>
          <a:bodyPr/>
          <a:lstStyle/>
          <a:p>
            <a:r>
              <a:rPr lang="en-GB" b="1" dirty="0"/>
              <a:t>Key Functionalities</a:t>
            </a:r>
          </a:p>
          <a:p>
            <a:r>
              <a:rPr lang="en-GB" dirty="0"/>
              <a:t>Add/remove/restock products</a:t>
            </a:r>
          </a:p>
          <a:p>
            <a:r>
              <a:rPr lang="en-GB" dirty="0"/>
              <a:t>Process sales and refunds</a:t>
            </a:r>
          </a:p>
          <a:p>
            <a:r>
              <a:rPr lang="en-GB" dirty="0"/>
              <a:t>Track customer purchases and preferences</a:t>
            </a:r>
          </a:p>
          <a:p>
            <a:r>
              <a:rPr lang="en-GB" dirty="0"/>
              <a:t>Generate sales reports and inventory alerts</a:t>
            </a:r>
          </a:p>
          <a:p>
            <a:r>
              <a:rPr lang="en-GB" dirty="0"/>
              <a:t>Recommend products based on popularity or customer history</a:t>
            </a:r>
          </a:p>
          <a:p>
            <a:r>
              <a:rPr lang="en-GB" dirty="0"/>
              <a:t>Predictive restocking suggestions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F3E0C9-A9FE-F0E4-21F2-D558A8297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278" y="39757"/>
            <a:ext cx="5923722" cy="43092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9AB0CC-954B-5427-256F-8DCFA97AC9C9}"/>
              </a:ext>
            </a:extLst>
          </p:cNvPr>
          <p:cNvSpPr txBox="1"/>
          <p:nvPr/>
        </p:nvSpPr>
        <p:spPr>
          <a:xfrm>
            <a:off x="0" y="540795"/>
            <a:ext cx="4731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 inventory management 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7FB227E-9654-D7B3-8DFF-B3356EB53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78" y="63172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Functionality: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 a new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Product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object and insert it into: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AVL Tree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for ordered listing by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product_id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Hash Table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dict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for fast lookup by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product_id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C2C164-ABB3-AD86-0DD5-A8674663E365}"/>
              </a:ext>
            </a:extLst>
          </p:cNvPr>
          <p:cNvSpPr txBox="1"/>
          <p:nvPr/>
        </p:nvSpPr>
        <p:spPr>
          <a:xfrm>
            <a:off x="5065712" y="5994039"/>
            <a:ext cx="6292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self.tree.root</a:t>
            </a:r>
            <a:r>
              <a:rPr lang="en-US" dirty="0">
                <a:solidFill>
                  <a:srgbClr val="FF0000"/>
                </a:solidFill>
              </a:rPr>
              <a:t> = </a:t>
            </a:r>
            <a:r>
              <a:rPr lang="en-US" dirty="0" err="1">
                <a:solidFill>
                  <a:srgbClr val="FF0000"/>
                </a:solidFill>
              </a:rPr>
              <a:t>self.tree.insert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self.tree.root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product_id</a:t>
            </a:r>
            <a:r>
              <a:rPr lang="en-US" dirty="0">
                <a:solidFill>
                  <a:srgbClr val="FF0000"/>
                </a:solidFill>
              </a:rPr>
              <a:t>, product)</a:t>
            </a:r>
          </a:p>
          <a:p>
            <a:r>
              <a:rPr lang="en-US" dirty="0" err="1"/>
              <a:t>self.map</a:t>
            </a:r>
            <a:r>
              <a:rPr lang="en-US" dirty="0"/>
              <a:t>[</a:t>
            </a:r>
            <a:r>
              <a:rPr lang="en-US" dirty="0" err="1"/>
              <a:t>product_id</a:t>
            </a:r>
            <a:r>
              <a:rPr lang="en-US" dirty="0"/>
              <a:t>] = product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79EC3B-6017-1138-7492-09016A7CD2EE}"/>
              </a:ext>
            </a:extLst>
          </p:cNvPr>
          <p:cNvSpPr txBox="1"/>
          <p:nvPr/>
        </p:nvSpPr>
        <p:spPr>
          <a:xfrm>
            <a:off x="53010" y="3889124"/>
            <a:ext cx="621526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>
                <a:effectLst/>
              </a:rPr>
              <a:t>Restock Product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Functionality:</a:t>
            </a:r>
            <a:r>
              <a:rPr lang="en-GB" dirty="0">
                <a:effectLst/>
              </a:rPr>
              <a:t> Increase the stock quantity of a product and log the change.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Code Used</a:t>
            </a:r>
            <a:r>
              <a:rPr lang="en-GB" b="1" dirty="0"/>
              <a:t>: </a:t>
            </a:r>
            <a:r>
              <a:rPr lang="en-GB" b="1" dirty="0" err="1"/>
              <a:t>product.stock</a:t>
            </a:r>
            <a:r>
              <a:rPr lang="en-GB" b="1" dirty="0"/>
              <a:t> += quantity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self.stock_changes.add_change</a:t>
            </a:r>
            <a:r>
              <a:rPr lang="en-GB" b="1" dirty="0"/>
              <a:t>(</a:t>
            </a:r>
            <a:r>
              <a:rPr lang="en-GB" b="1" dirty="0" err="1"/>
              <a:t>product_id</a:t>
            </a:r>
            <a:r>
              <a:rPr lang="en-GB" b="1" dirty="0"/>
              <a:t>, quantity, "Restock")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6413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FAD6C-D8F9-881F-5A97-7EC506C98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57391-BF83-E21E-524F-ADA5D0112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Aly Hassan Aly Maher (242500610)</a:t>
            </a:r>
          </a:p>
          <a:p>
            <a:r>
              <a:rPr lang="en-US" dirty="0"/>
              <a:t>Ahmed </a:t>
            </a:r>
            <a:r>
              <a:rPr lang="en-US" dirty="0" err="1"/>
              <a:t>sameh</a:t>
            </a:r>
            <a:r>
              <a:rPr lang="en-US" dirty="0"/>
              <a:t> (242500136)</a:t>
            </a:r>
          </a:p>
          <a:p>
            <a:r>
              <a:rPr lang="en-US" dirty="0"/>
              <a:t>Youssef </a:t>
            </a:r>
            <a:r>
              <a:rPr lang="en-US" dirty="0" err="1"/>
              <a:t>ahmed</a:t>
            </a:r>
            <a:r>
              <a:rPr lang="en-US" dirty="0"/>
              <a:t> </a:t>
            </a:r>
            <a:r>
              <a:rPr lang="en-US" dirty="0" err="1"/>
              <a:t>gharib</a:t>
            </a:r>
            <a:r>
              <a:rPr lang="en-US" dirty="0"/>
              <a:t>  (242500659)</a:t>
            </a:r>
          </a:p>
          <a:p>
            <a:r>
              <a:rPr lang="en-US" dirty="0"/>
              <a:t>Youssef </a:t>
            </a:r>
            <a:r>
              <a:rPr lang="en-US" dirty="0" err="1"/>
              <a:t>eslam</a:t>
            </a:r>
            <a:r>
              <a:rPr lang="en-US" dirty="0"/>
              <a:t> (242500420)</a:t>
            </a:r>
          </a:p>
          <a:p>
            <a:r>
              <a:rPr lang="en-US" dirty="0"/>
              <a:t>Yehia </a:t>
            </a:r>
            <a:r>
              <a:rPr lang="en-US" dirty="0" err="1"/>
              <a:t>hazem</a:t>
            </a:r>
            <a:r>
              <a:rPr lang="en-US" dirty="0"/>
              <a:t> </a:t>
            </a:r>
            <a:r>
              <a:rPr lang="en-US" dirty="0" err="1"/>
              <a:t>badr</a:t>
            </a:r>
            <a:r>
              <a:rPr lang="en-US" dirty="0"/>
              <a:t> (242500613)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3473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912</TotalTime>
  <Words>363</Words>
  <Application>Microsoft Macintosh PowerPoint</Application>
  <PresentationFormat>Widescreen</PresentationFormat>
  <Paragraphs>59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 Unicode MS</vt:lpstr>
      <vt:lpstr>Arial</vt:lpstr>
      <vt:lpstr>Calibri</vt:lpstr>
      <vt:lpstr>Calibri Light</vt:lpstr>
      <vt:lpstr>Celestial</vt:lpstr>
      <vt:lpstr>Retail Business Inventory and Sales Management System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Aly Hassan</dc:creator>
  <cp:lastModifiedBy>Aly Hassan</cp:lastModifiedBy>
  <cp:revision>2</cp:revision>
  <dcterms:created xsi:type="dcterms:W3CDTF">2025-12-15T21:27:45Z</dcterms:created>
  <dcterms:modified xsi:type="dcterms:W3CDTF">2025-12-16T12:40:05Z</dcterms:modified>
</cp:coreProperties>
</file>